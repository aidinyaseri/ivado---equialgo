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34bc55-f371-3e25-50d6-6d9d258dcace}">
          <p14:sldIdLst>
            <p14:sldId id="256"/>
            <p14:sldId id="257"/>
          </p14:sldIdLst>
        </p14:section>
        <p14:section name="Diagnosis" id="{05077395-7018-eea0-c398-5949cca16c84}">
          <p14:sldIdLst>
            <p14:sldId id="258"/>
            <p14:sldId id="259"/>
            <p14:sldId id="260"/>
            <p14:sldId id="261"/>
          </p14:sldIdLst>
        </p14:section>
        <p14:section name="Solution" id="{d6cdeeb4-d646-3da8-59a0-7de686b33bfe}">
          <p14:sldIdLst>
            <p14:sldId id="262"/>
            <p14:sldId id="263"/>
            <p14:sldId id="264"/>
          </p14:sldIdLst>
        </p14:section>
        <p14:section name="Governance" id="{ec4bb9f9-3a02-2991-7bd1-91804483e20a}">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433"/>
                </a:solidFill>
                <a:latin typeface="+mn-lt"/>
              </a:defRPr>
            </a:pPr>
            <a:r>
              <a:rPr sz="1400" b="0" i="0" u="none" strike="noStrike">
                <a:solidFill>
                  <a:srgbClr val="1D2433"/>
                </a:solidFill>
                <a:latin typeface="+mn-lt"/>
              </a:rPr>
              <a:t>Historical grant rate (%) by R score</a:t>
            </a:r>
          </a:p>
        </c:rich>
      </c:tx>
      <c:layout/>
      <c:overlay val="0"/>
    </c:title>
    <c:autoTitleDeleted val="0"/>
    <c:plotArea>
      <c:layout/>
      <c:lineChart>
        <c:varyColors val="0"/>
        <c:ser>
          <c:idx val="0"/>
          <c:order val="0"/>
          <c:tx>
            <c:strRef>
              <c:f>Sheet1!$B$1</c:f>
              <c:strCache>
                <c:ptCount val="1"/>
                <c:pt idx="0">
                  <c:v>Centres</c:v>
                </c:pt>
              </c:strCache>
            </c:strRef>
          </c:tx>
          <c:spPr>
            <a:solidFill>
              <a:srgbClr val="2A6F97"/>
            </a:solidFill>
            <a:ln w="31750" cap="flat">
              <a:solidFill>
                <a:srgbClr val="2A6F97"/>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A6F97"/>
              </a:solidFill>
              <a:ln w="9525" cap="flat">
                <a:solidFill>
                  <a:srgbClr val="2A6F97"/>
                </a:solidFill>
                <a:prstDash val="solid"/>
                <a:round/>
              </a:ln>
              <a:effectLst/>
            </c:spPr>
          </c:marker>
          <c:cat>
            <c:multiLvlStrRef>
              <c:f>Sheet1!$A$2:$A$13</c:f>
              <c:multiLvlStrCache>
                <c:ptCount val="12"/>
                <c:lvl>
                  <c:pt idx="0">
                    <c:v>22</c:v>
                  </c:pt>
                  <c:pt idx="1">
                    <c:v>23</c:v>
                  </c:pt>
                  <c:pt idx="2">
                    <c:v>24</c:v>
                  </c:pt>
                  <c:pt idx="3">
                    <c:v>25</c:v>
                  </c:pt>
                  <c:pt idx="4">
                    <c:v>26</c:v>
                  </c:pt>
                  <c:pt idx="5">
                    <c:v>27</c:v>
                  </c:pt>
                  <c:pt idx="6">
                    <c:v>28</c:v>
                  </c:pt>
                  <c:pt idx="7">
                    <c:v>29</c:v>
                  </c:pt>
                  <c:pt idx="8">
                    <c:v>30</c:v>
                  </c:pt>
                  <c:pt idx="9">
                    <c:v>31</c:v>
                  </c:pt>
                  <c:pt idx="10">
                    <c:v>32</c:v>
                  </c:pt>
                  <c:pt idx="11">
                    <c:v>33</c:v>
                  </c:pt>
                </c:lvl>
              </c:multiLvlStrCache>
            </c:multiLvlStrRef>
          </c:cat>
          <c:val>
            <c:numRef>
              <c:f>Sheet1!$B$2:$B$13</c:f>
              <c:numCache>
                <c:formatCode>General</c:formatCode>
                <c:ptCount val="12"/>
                <c:pt idx="0">
                  <c:v>0</c:v>
                </c:pt>
                <c:pt idx="1">
                  <c:v>0.4</c:v>
                </c:pt>
                <c:pt idx="2">
                  <c:v>0.7</c:v>
                </c:pt>
                <c:pt idx="3">
                  <c:v>4.8</c:v>
                </c:pt>
                <c:pt idx="4">
                  <c:v>16.1</c:v>
                </c:pt>
                <c:pt idx="5">
                  <c:v>31.6</c:v>
                </c:pt>
                <c:pt idx="6">
                  <c:v>59.3</c:v>
                </c:pt>
                <c:pt idx="7">
                  <c:v>84.9</c:v>
                </c:pt>
                <c:pt idx="8">
                  <c:v>93.7</c:v>
                </c:pt>
                <c:pt idx="9">
                  <c:v>98.8</c:v>
                </c:pt>
                <c:pt idx="10">
                  <c:v>99.6</c:v>
                </c:pt>
                <c:pt idx="11">
                  <c:v>100</c:v>
                </c:pt>
              </c:numCache>
            </c:numRef>
          </c:val>
          <c:smooth val="0"/>
        </c:ser>
        <c:ser>
          <c:idx val="1"/>
          <c:order val="1"/>
          <c:tx>
            <c:strRef>
              <c:f>Sheet1!$C$1</c:f>
              <c:strCache>
                <c:ptCount val="1"/>
                <c:pt idx="0">
                  <c:v>Remote regions</c:v>
                </c:pt>
              </c:strCache>
            </c:strRef>
          </c:tx>
          <c:spPr>
            <a:solidFill>
              <a:srgbClr val="E07A24"/>
            </a:solidFill>
            <a:ln w="31750" cap="flat">
              <a:solidFill>
                <a:srgbClr val="E07A2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E07A24"/>
              </a:solidFill>
              <a:ln w="9525" cap="flat">
                <a:solidFill>
                  <a:srgbClr val="E07A24"/>
                </a:solidFill>
                <a:prstDash val="solid"/>
                <a:round/>
              </a:ln>
              <a:effectLst/>
            </c:spPr>
          </c:marker>
          <c:cat>
            <c:multiLvlStrRef>
              <c:f>Sheet1!$A$2:$A$13</c:f>
              <c:multiLvlStrCache>
                <c:ptCount val="12"/>
                <c:lvl>
                  <c:pt idx="0">
                    <c:v>22</c:v>
                  </c:pt>
                  <c:pt idx="1">
                    <c:v>23</c:v>
                  </c:pt>
                  <c:pt idx="2">
                    <c:v>24</c:v>
                  </c:pt>
                  <c:pt idx="3">
                    <c:v>25</c:v>
                  </c:pt>
                  <c:pt idx="4">
                    <c:v>26</c:v>
                  </c:pt>
                  <c:pt idx="5">
                    <c:v>27</c:v>
                  </c:pt>
                  <c:pt idx="6">
                    <c:v>28</c:v>
                  </c:pt>
                  <c:pt idx="7">
                    <c:v>29</c:v>
                  </c:pt>
                  <c:pt idx="8">
                    <c:v>30</c:v>
                  </c:pt>
                  <c:pt idx="9">
                    <c:v>31</c:v>
                  </c:pt>
                  <c:pt idx="10">
                    <c:v>32</c:v>
                  </c:pt>
                  <c:pt idx="11">
                    <c:v>33</c:v>
                  </c:pt>
                </c:lvl>
              </c:multiLvlStrCache>
            </c:multiLvlStrRef>
          </c:cat>
          <c:val>
            <c:numRef>
              <c:f>Sheet1!$C$2:$C$13</c:f>
              <c:numCache>
                <c:formatCode>General</c:formatCode>
                <c:ptCount val="12"/>
                <c:pt idx="0">
                  <c:v>0</c:v>
                </c:pt>
                <c:pt idx="1">
                  <c:v>0</c:v>
                </c:pt>
                <c:pt idx="2">
                  <c:v>0.3</c:v>
                </c:pt>
                <c:pt idx="3">
                  <c:v>1.1</c:v>
                </c:pt>
                <c:pt idx="4">
                  <c:v>3.8</c:v>
                </c:pt>
                <c:pt idx="5">
                  <c:v>10</c:v>
                </c:pt>
                <c:pt idx="6">
                  <c:v>25.6</c:v>
                </c:pt>
                <c:pt idx="7">
                  <c:v>56.8</c:v>
                </c:pt>
                <c:pt idx="8">
                  <c:v>77.6</c:v>
                </c:pt>
                <c:pt idx="9">
                  <c:v>91.5</c:v>
                </c:pt>
                <c:pt idx="10">
                  <c:v>98.1</c:v>
                </c:pt>
                <c:pt idx="11">
                  <c:v>98.4</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475"/>
                    </a:solidFill>
                    <a:latin typeface="Arial"/>
                  </a:defRPr>
                </a:pPr>
                <a:r>
                  <a:rPr sz="1200" b="0" i="0" u="none" strike="noStrike">
                    <a:solidFill>
                      <a:srgbClr val="5B6475"/>
                    </a:solidFill>
                    <a:latin typeface="Arial"/>
                  </a:rPr>
                  <a:t>R score (1-point bins)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DE2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D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D2433"/>
                </a:solidFill>
                <a:latin typeface="+mn-lt"/>
              </a:defRPr>
            </a:pPr>
            <a:r>
              <a:rPr sz="1400" b="0" i="0" u="none" strike="noStrike">
                <a:solidFill>
                  <a:srgbClr val="1D2433"/>
                </a:solidFill>
                <a:latin typeface="+mn-lt"/>
              </a:rPr>
              <a:t>Mean SHAP contribution to P(award), points</a:t>
            </a:r>
          </a:p>
        </c:rich>
      </c:tx>
      <c:layout/>
      <c:overlay val="0"/>
    </c:title>
    <c:autoTitleDeleted val="0"/>
    <c:plotArea>
      <c:layout/>
      <c:barChart>
        <c:barDir val="bar"/>
        <c:grouping val="clustered"/>
        <c:varyColors val="0"/>
        <c:ser>
          <c:idx val="0"/>
          <c:order val="0"/>
          <c:tx>
            <c:strRef>
              <c:f>Sheet1!$B$1</c:f>
              <c:strCache>
                <c:ptCount val="1"/>
                <c:pt idx="0">
                  <c:v>Centres</c:v>
                </c:pt>
              </c:strCache>
            </c:strRef>
          </c:tx>
          <c:spPr>
            <a:solidFill>
              <a:srgbClr val="2A6F97"/>
            </a:solidFill>
            <a:effectLst/>
          </c:spPr>
          <c:invertIfNegative val="0"/>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Region</c:v>
                  </c:pt>
                  <c:pt idx="1">
                    <c:v>Distance</c:v>
                  </c:pt>
                  <c:pt idx="2">
                    <c:v>Postal code</c:v>
                  </c:pt>
                  <c:pt idx="3">
                    <c:v>Family income</c:v>
                  </c:pt>
                  <c:pt idx="4">
                    <c:v>Hours worked</c:v>
                  </c:pt>
                  <c:pt idx="5">
                    <c:v>R score</c:v>
                  </c:pt>
                </c:lvl>
              </c:multiLvlStrCache>
            </c:multiLvlStrRef>
          </c:cat>
          <c:val>
            <c:numRef>
              <c:f>Sheet1!$B$2:$B$7</c:f>
              <c:numCache>
                <c:formatCode>General</c:formatCode>
                <c:ptCount val="6"/>
                <c:pt idx="0">
                  <c:v>3</c:v>
                </c:pt>
                <c:pt idx="1">
                  <c:v>2.6</c:v>
                </c:pt>
                <c:pt idx="2">
                  <c:v>0.7</c:v>
                </c:pt>
                <c:pt idx="3">
                  <c:v>0.7</c:v>
                </c:pt>
                <c:pt idx="4">
                  <c:v>-0.4</c:v>
                </c:pt>
                <c:pt idx="5">
                  <c:v>1.2</c:v>
                </c:pt>
              </c:numCache>
            </c:numRef>
          </c:val>
        </c:ser>
        <c:ser>
          <c:idx val="1"/>
          <c:order val="1"/>
          <c:tx>
            <c:strRef>
              <c:f>Sheet1!$C$1</c:f>
              <c:strCache>
                <c:ptCount val="1"/>
                <c:pt idx="0">
                  <c:v>Remote regions</c:v>
                </c:pt>
              </c:strCache>
            </c:strRef>
          </c:tx>
          <c:spPr>
            <a:solidFill>
              <a:srgbClr val="E07A24"/>
            </a:solidFill>
            <a:effectLst/>
          </c:spPr>
          <c:invertIfNegative val="0"/>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Region</c:v>
                  </c:pt>
                  <c:pt idx="1">
                    <c:v>Distance</c:v>
                  </c:pt>
                  <c:pt idx="2">
                    <c:v>Postal code</c:v>
                  </c:pt>
                  <c:pt idx="3">
                    <c:v>Family income</c:v>
                  </c:pt>
                  <c:pt idx="4">
                    <c:v>Hours worked</c:v>
                  </c:pt>
                  <c:pt idx="5">
                    <c:v>R score</c:v>
                  </c:pt>
                </c:lvl>
              </c:multiLvlStrCache>
            </c:multiLvlStrRef>
          </c:cat>
          <c:val>
            <c:numRef>
              <c:f>Sheet1!$C$2:$C$7</c:f>
              <c:numCache>
                <c:formatCode>General</c:formatCode>
                <c:ptCount val="6"/>
                <c:pt idx="0">
                  <c:v>-4.4</c:v>
                </c:pt>
                <c:pt idx="1">
                  <c:v>-4.4</c:v>
                </c:pt>
                <c:pt idx="2">
                  <c:v>-1</c:v>
                </c:pt>
                <c:pt idx="3">
                  <c:v>-1.2</c:v>
                </c:pt>
                <c:pt idx="4">
                  <c:v>1.1</c:v>
                </c:pt>
                <c:pt idx="5">
                  <c:v>-5.4</c:v>
                </c:pt>
              </c:numCache>
            </c:numRef>
          </c:val>
        </c:ser>
        <c:dLbls>
          <c:numFmt formatCode="0.0" sourceLinked="0"/>
          <c:txPr>
            <a:bodyPr/>
            <a:lstStyle/>
            <a:p>
              <a:pPr>
                <a:defRPr b="0" i="0" strike="noStrike" sz="1100" u="none">
                  <a:solidFill>
                    <a:srgbClr val="1D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DE2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D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We're CertifiedHackerBoys. Our project is about one sentence: same R score, different postal code, different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The institution's model is 88% accurate. But it grants awards to 48% of applicants from Montréal and Québec City, and only 27% from Bas-Saint-Laurent, Côte-Nord and Gaspésie. Their grades differ by 0.7 R points. A 21-point gap in awards, almost no gap in grades. The model is accurate because it copies the old committee, and the committee is what's under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(0:35–1:10) Look at students with the same R score. Between 28 and 29, 59% get an award in the centres and 26% in the regions. We modelled the committee and found a flat penalty worth 1.6 R points, the same in all three remote regions, and it explains 83% of the gap. Then we asked the production model a simple question: what if a remote student moved to Montréal, same grades, same job, same family? 190 students out of 1,628 flip from refused to granted. Just by changing their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The obvious fix, deleting the region column, doesn't work. Distance and postal code identify the region almost perfectly. SHAP shows distance costs remote students as much as the region label itself. Take the label away and the model rebuilds the penalty from distance. The bias is in the labels, not the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There was a second, quieter bias. The committee also rewarded family income, and remote families earn 25% less. The two stack up: under the production model, four in ten deserving low-income remote students were refused. We confirmed it with 24 controlled experiments on HxBuddy: adding income always hurts agreement with the reference, adding hours worked always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(2:10–2:30) We measure fairness with equal opportunity: a deserving student in Gaspé should have the same chance as one in Montréal. Not demographic parity, which forces equal rates whether merit differs or not. And never against the committee's own labels: against those, the biased model looks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Our fix: we fit the committee model with an explicit region term, so the penalty lands there instead of hiding in distance. Then we switch it off, along with the income bonus. What's left is the committee's own weighting of real merit: R score plus 0.146 points per weekly hour worked. Top 41% get an award. One formula any applicant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(3:00–3:25) We swept how much of the penalty to remove and compared against fairlearn's tools. Removing the bias improves fairness and agreement with merit at the same time. The fairlearn methods barely move, because they measure fairness against the biased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(3:25–4:00) Result: 41% in the centres, 41% in the regions. Equal-opportunity gap from 0.30 to zero. HxBuddy score 94.7%, up from 92.4% for our first version. 390 decisions change. And here's the part we care about: the students who gain awards and the ones who lose them have the same grades. The ones who gain work twice as many hours and come from families earning half as much. The old model was rewarding comfort, not merit.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A fix is only as good as its monitoring, so we built it. monitoring.py checks every batch: budget, parity, every region, income subgroups, and drift. We tested it on five scenarios. Someone redeploys the old model? Stopped, even though the budget looks normal. Students inflate their hours? Alert, because otherwise 103 honest students lose their award. Region and income are used only to measure bias, never to score. Applicants get a notice and a human review under Law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What we can't claim: we never saw the jury's reference, and we disclose every leaderboard experiment. Hours worked are self-reported, so they need verification. But the main lesson is simple: the fix wasn't a better classifier. It was refusing to treat past decisions as the truth.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10698480" cy="45720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920240"/>
            <a:ext cx="10698480" cy="23774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731520" y="4480560"/>
            <a:ext cx="10698480" cy="1463040"/>
          </a:xfrm>
          <a:prstGeom prst="rect">
            <a:avLst/>
          </a:prstGeom>
          <a:noFill/>
          <a:ln/>
        </p:spPr>
        <p:txBody>
          <a:bodyPr wrap="square" rtlCol="0"/>
          <a:lstStyle>
            <a:lvl1pPr indent="0" marL="0">
              <a:buNone/>
              <a:defRPr lang="en-US" sz="1800" dirty="0">
                <a:solidFill>
                  <a:srgbClr val="C9D2E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rtlCol="0"/>
          <a:lstStyle>
            <a:lvl1pPr indent="0" marL="0">
              <a:buNone/>
              <a:defRPr lang="en-US" sz="1000" dirty="0">
                <a:solidFill>
                  <a:schemeClr val="accent6"/>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10698480" cy="457200"/>
          </a:xfrm>
          <a:prstGeom prst="rect">
            <a:avLst/>
          </a:prstGeom>
          <a:noFill/>
          <a:ln/>
        </p:spPr>
        <p:txBody>
          <a:bodyPr wrap="square" lIns="0" tIns="0" rIns="0" bIns="0" rtlCol="0"/>
          <a:lstStyle/>
          <a:p>
            <a:pPr indent="0" marL="0">
              <a:buNone/>
            </a:pPr>
            <a:r>
              <a:rPr lang="en-US" sz="1400" b="1" spc="200" kern="0" dirty="0">
                <a:solidFill>
                  <a:schemeClr val="accent1"/>
                </a:solidFill>
              </a:rPr>
              <a:t>IVADO · ÉQUIALGO · CODEML 2026</a:t>
            </a:r>
            <a:endParaRPr lang="en-US" sz="1400" dirty="0"/>
          </a:p>
        </p:txBody>
      </p:sp>
      <p:sp>
        <p:nvSpPr>
          <p:cNvPr id="3" name="Text 0"/>
          <p:cNvSpPr/>
          <p:nvPr>
            <p:ph idx="101" type="title" hasCustomPrompt="1"/>
          </p:nvPr>
        </p:nvSpPr>
        <p:spPr>
          <a:xfrm>
            <a:off x="731520" y="1920240"/>
            <a:ext cx="10698480" cy="237744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Same R score, different postal code, different answer</a:t>
            </a:r>
            <a:endParaRPr lang="en-US" sz="4400" dirty="0"/>
          </a:p>
        </p:txBody>
      </p:sp>
      <p:sp>
        <p:nvSpPr>
          <p:cNvPr id="4" name="Text 0"/>
          <p:cNvSpPr/>
          <p:nvPr>
            <p:ph idx="102" type="body" hasCustomPrompt="1"/>
          </p:nvPr>
        </p:nvSpPr>
        <p:spPr>
          <a:xfrm>
            <a:off x="731520" y="4480560"/>
            <a:ext cx="10698480" cy="1463040"/>
          </a:xfrm>
          <a:prstGeom prst="rect">
            <a:avLst/>
          </a:prstGeom>
          <a:noFill/>
          <a:ln/>
        </p:spPr>
        <p:txBody>
          <a:bodyPr wrap="square" lIns="0" tIns="0" rIns="0" bIns="0" rtlCol="0" anchor="t"/>
          <a:lstStyle/>
          <a:p>
            <a:pPr indent="0" marL="0">
              <a:buNone/>
            </a:pPr>
            <a:r>
              <a:rPr lang="en-US" sz="1800" dirty="0">
                <a:solidFill>
                  <a:srgbClr val="C9D2E3"/>
                </a:solidFill>
              </a:rPr>
              <a:t>Finding and removing two hidden regional biases in scholarship decisions</a:t>
            </a:r>
            <a:endParaRPr lang="en-US" sz="1800" dirty="0"/>
          </a:p>
          <a:p>
            <a:pPr indent="0" marL="0">
              <a:buNone/>
            </a:pPr>
            <a:r>
              <a:rPr lang="en-US" sz="1500" dirty="0">
                <a:solidFill>
                  <a:srgbClr val="C9D2E3"/>
                </a:solidFill>
              </a:rPr>
              <a:t>CertifiedHackerBoys · Ryan Morov · Aidin Yaseri · Arav Sahni · Makan Homayoun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 88%-accurate model that copies a biased committee</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Data: 10,000 historical files, 4,000 applicants to score (synthetic)</a:t>
            </a:r>
            <a:endParaRPr lang="en-US" sz="1000" dirty="0"/>
          </a:p>
        </p:txBody>
      </p:sp>
      <p:sp>
        <p:nvSpPr>
          <p:cNvPr id="5" name="stat-0"/>
          <p:cNvSpPr/>
          <p:nvPr/>
        </p:nvSpPr>
        <p:spPr>
          <a:xfrm>
            <a:off x="548640" y="1737360"/>
            <a:ext cx="3474720" cy="2377440"/>
          </a:xfrm>
          <a:prstGeom prst="roundRect">
            <a:avLst>
              <a:gd name="adj" fmla="val 4615"/>
            </a:avLst>
          </a:prstGeom>
          <a:solidFill>
            <a:schemeClr val="bg2"/>
          </a:solidFill>
          <a:ln/>
        </p:spPr>
      </p:sp>
      <p:sp>
        <p:nvSpPr>
          <p:cNvPr id="6" name="Text 4"/>
          <p:cNvSpPr txBox="1"/>
          <p:nvPr/>
        </p:nvSpPr>
        <p:spPr>
          <a:xfrm>
            <a:off x="822960" y="1965960"/>
            <a:ext cx="2926080" cy="109728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48.4%</a:t>
            </a:r>
            <a:endParaRPr lang="en-US" sz="6000" dirty="0"/>
          </a:p>
        </p:txBody>
      </p:sp>
      <p:sp>
        <p:nvSpPr>
          <p:cNvPr id="7" name="Text 5"/>
          <p:cNvSpPr txBox="1"/>
          <p:nvPr/>
        </p:nvSpPr>
        <p:spPr>
          <a:xfrm>
            <a:off x="822960" y="310896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grant rate in Montréal and the Capitale-Nationale</a:t>
            </a:r>
            <a:endParaRPr lang="en-US" sz="1500" dirty="0"/>
          </a:p>
        </p:txBody>
      </p:sp>
      <p:sp>
        <p:nvSpPr>
          <p:cNvPr id="8" name="stat-1"/>
          <p:cNvSpPr/>
          <p:nvPr/>
        </p:nvSpPr>
        <p:spPr>
          <a:xfrm>
            <a:off x="4297680" y="1737360"/>
            <a:ext cx="3474720" cy="2377440"/>
          </a:xfrm>
          <a:prstGeom prst="roundRect">
            <a:avLst>
              <a:gd name="adj" fmla="val 4615"/>
            </a:avLst>
          </a:prstGeom>
          <a:solidFill>
            <a:schemeClr val="bg2"/>
          </a:solidFill>
          <a:ln/>
        </p:spPr>
      </p:sp>
      <p:sp>
        <p:nvSpPr>
          <p:cNvPr id="9" name="Text 7"/>
          <p:cNvSpPr txBox="1"/>
          <p:nvPr/>
        </p:nvSpPr>
        <p:spPr>
          <a:xfrm>
            <a:off x="4572000" y="1965960"/>
            <a:ext cx="2926080" cy="10972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27.3%</a:t>
            </a:r>
            <a:endParaRPr lang="en-US" sz="6000" dirty="0"/>
          </a:p>
        </p:txBody>
      </p:sp>
      <p:sp>
        <p:nvSpPr>
          <p:cNvPr id="10" name="Text 8"/>
          <p:cNvSpPr txBox="1"/>
          <p:nvPr/>
        </p:nvSpPr>
        <p:spPr>
          <a:xfrm>
            <a:off x="4572000" y="310896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grant rate in Bas-Saint-Laurent, Côte-Nord and Gaspésie</a:t>
            </a:r>
            <a:endParaRPr lang="en-US" sz="1500" dirty="0"/>
          </a:p>
        </p:txBody>
      </p:sp>
      <p:sp>
        <p:nvSpPr>
          <p:cNvPr id="11" name="stat-2"/>
          <p:cNvSpPr/>
          <p:nvPr/>
        </p:nvSpPr>
        <p:spPr>
          <a:xfrm>
            <a:off x="8046720" y="1737360"/>
            <a:ext cx="3474720" cy="2377440"/>
          </a:xfrm>
          <a:prstGeom prst="roundRect">
            <a:avLst>
              <a:gd name="adj" fmla="val 4615"/>
            </a:avLst>
          </a:prstGeom>
          <a:solidFill>
            <a:schemeClr val="bg2"/>
          </a:solidFill>
          <a:ln/>
        </p:spPr>
      </p:sp>
      <p:sp>
        <p:nvSpPr>
          <p:cNvPr id="12" name="Text 10"/>
          <p:cNvSpPr txBox="1"/>
          <p:nvPr/>
        </p:nvSpPr>
        <p:spPr>
          <a:xfrm>
            <a:off x="8321040" y="1965960"/>
            <a:ext cx="2926080"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0.7</a:t>
            </a:r>
            <a:endParaRPr lang="en-US" sz="6000" dirty="0"/>
          </a:p>
        </p:txBody>
      </p:sp>
      <p:sp>
        <p:nvSpPr>
          <p:cNvPr id="13" name="Text 11"/>
          <p:cNvSpPr txBox="1"/>
          <p:nvPr/>
        </p:nvSpPr>
        <p:spPr>
          <a:xfrm>
            <a:off x="8321040" y="3108960"/>
            <a:ext cx="2926080" cy="822960"/>
          </a:xfrm>
          <a:prstGeom prst="rect">
            <a:avLst/>
          </a:prstGeom>
          <a:noFill/>
          <a:ln/>
        </p:spPr>
        <p:txBody>
          <a:bodyPr wrap="square" lIns="0" tIns="0" rIns="0" bIns="0" rtlCol="0" anchor="t"/>
          <a:lstStyle/>
          <a:p>
            <a:pPr indent="0" marL="0">
              <a:buNone/>
            </a:pPr>
            <a:r>
              <a:rPr lang="en-US" sz="1500" dirty="0">
                <a:solidFill>
                  <a:schemeClr val="accent6"/>
                </a:solidFill>
              </a:rPr>
              <a:t>R-score points between the two groups (scale SD: 3)</a:t>
            </a:r>
            <a:endParaRPr lang="en-US" sz="1500" dirty="0"/>
          </a:p>
        </p:txBody>
      </p:sp>
      <p:sp>
        <p:nvSpPr>
          <p:cNvPr id="14" name="Text 12"/>
          <p:cNvSpPr txBox="1"/>
          <p:nvPr/>
        </p:nvSpPr>
        <p:spPr>
          <a:xfrm>
            <a:off x="548640" y="4480560"/>
            <a:ext cx="11064240" cy="1097280"/>
          </a:xfrm>
          <a:prstGeom prst="rect">
            <a:avLst/>
          </a:prstGeom>
          <a:noFill/>
          <a:ln/>
        </p:spPr>
        <p:txBody>
          <a:bodyPr wrap="square" lIns="0" tIns="0" rIns="0" bIns="0" rtlCol="0" anchor="t"/>
          <a:lstStyle/>
          <a:p>
            <a:pPr indent="0" marL="0">
              <a:buNone/>
            </a:pPr>
            <a:r>
              <a:rPr lang="en-US" sz="1800" dirty="0">
                <a:solidFill>
                  <a:schemeClr val="tx1"/>
                </a:solidFill>
              </a:rPr>
              <a:t>A 21-point gap in awards, almost no gap in grades. The model is accurate because it reproduces past decisions, and those decisions are what is under audit.</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BIAS CHANNEL 1</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committee docked remote applicants 1.6 R points</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audit_rapport.ipynb, sections 2, 3 and 5b</a:t>
            </a:r>
            <a:endParaRPr lang="en-US" sz="1000" dirty="0"/>
          </a:p>
        </p:txBody>
      </p:sp>
      <p:graphicFrame>
        <p:nvGraphicFramePr>
          <p:cNvPr id="5" name="Chart 0" descr=""/>
          <p:cNvGraphicFramePr/>
          <p:nvPr/>
        </p:nvGraphicFramePr>
        <p:xfrm>
          <a:off x="548640" y="164592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0" y="1645920"/>
            <a:ext cx="4297680" cy="219456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Between R 28 and 29: 59% granted in the centres, 26% in the regions</a:t>
            </a:r>
            <a:endParaRPr lang="en-US" sz="1600" dirty="0"/>
          </a:p>
          <a:p>
            <a:pPr marL="342900" indent="-342900">
              <a:spcAft>
                <a:spcPts val="1000"/>
              </a:spcAft>
              <a:buSzPct val="100000"/>
              <a:buChar char="•"/>
            </a:pPr>
            <a:r>
              <a:rPr lang="en-US" sz="1600" dirty="0">
                <a:solidFill>
                  <a:schemeClr val="tx1"/>
                </a:solidFill>
              </a:rPr>
              <a:t>A flat penalty of about 1.6 R points (95% CI 1.4–1.7), the same in all three remote regions</a:t>
            </a:r>
            <a:endParaRPr lang="en-US" sz="1600" dirty="0"/>
          </a:p>
          <a:p>
            <a:pPr marL="342900" indent="-342900">
              <a:spcAft>
                <a:spcPts val="1000"/>
              </a:spcAft>
              <a:buSzPct val="100000"/>
              <a:buChar char="•"/>
            </a:pPr>
            <a:r>
              <a:rPr lang="en-US" sz="1600" dirty="0">
                <a:solidFill>
                  <a:schemeClr val="tx1"/>
                </a:solidFill>
              </a:rPr>
              <a:t>It explains 83% of the gap</a:t>
            </a:r>
            <a:endParaRPr lang="en-US" sz="1600" dirty="0"/>
          </a:p>
        </p:txBody>
      </p:sp>
      <p:sp>
        <p:nvSpPr>
          <p:cNvPr id="7" name="counterfactual-card"/>
          <p:cNvSpPr/>
          <p:nvPr/>
        </p:nvSpPr>
        <p:spPr>
          <a:xfrm>
            <a:off x="7315200" y="4023360"/>
            <a:ext cx="4297680" cy="2103120"/>
          </a:xfrm>
          <a:prstGeom prst="roundRect">
            <a:avLst>
              <a:gd name="adj" fmla="val 5217"/>
            </a:avLst>
          </a:prstGeom>
          <a:solidFill>
            <a:schemeClr val="bg2"/>
          </a:solidFill>
          <a:ln/>
        </p:spPr>
      </p:sp>
      <p:sp>
        <p:nvSpPr>
          <p:cNvPr id="8" name="Text 5"/>
          <p:cNvSpPr txBox="1"/>
          <p:nvPr/>
        </p:nvSpPr>
        <p:spPr>
          <a:xfrm>
            <a:off x="7589520" y="4160520"/>
            <a:ext cx="384048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190 of 1,628</a:t>
            </a:r>
            <a:endParaRPr lang="en-US" sz="4000" dirty="0"/>
          </a:p>
        </p:txBody>
      </p:sp>
      <p:sp>
        <p:nvSpPr>
          <p:cNvPr id="9" name="Text 6"/>
          <p:cNvSpPr txBox="1"/>
          <p:nvPr/>
        </p:nvSpPr>
        <p:spPr>
          <a:xfrm>
            <a:off x="7589520" y="4983480"/>
            <a:ext cx="3840480" cy="1005840"/>
          </a:xfrm>
          <a:prstGeom prst="rect">
            <a:avLst/>
          </a:prstGeom>
          <a:noFill/>
          <a:ln/>
        </p:spPr>
        <p:txBody>
          <a:bodyPr wrap="square" lIns="0" tIns="0" rIns="0" bIns="0" rtlCol="0" anchor="t"/>
          <a:lstStyle/>
          <a:p>
            <a:pPr indent="0" marL="0">
              <a:buNone/>
            </a:pPr>
            <a:r>
              <a:rPr lang="en-US" sz="1400" dirty="0">
                <a:solidFill>
                  <a:schemeClr val="accent6"/>
                </a:solidFill>
              </a:rPr>
              <a:t>remote applicants the production model would fund if they simply lived in Montréal, with the same grades, hours and income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WHY DELETING THE COLUMN FAILS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Proxies rebuild the penalty</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audit_rapport.ipynb, sections 4 and 5b · SHAP on the production random forest</a:t>
            </a:r>
            <a:endParaRPr lang="en-US" sz="1000" dirty="0"/>
          </a:p>
        </p:txBody>
      </p:sp>
      <p:graphicFrame>
        <p:nvGraphicFramePr>
          <p:cNvPr id="5" name="Chart 0" descr=""/>
          <p:cNvGraphicFramePr/>
          <p:nvPr/>
        </p:nvGraphicFramePr>
        <p:xfrm>
          <a:off x="548640" y="164592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0" y="1645920"/>
            <a:ext cx="4297680" cy="329184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Distance costs remote applicants as much as the region label itself</a:t>
            </a:r>
            <a:endParaRPr lang="en-US" sz="1600" dirty="0"/>
          </a:p>
          <a:p>
            <a:pPr marL="342900" indent="-342900">
              <a:spcAft>
                <a:spcPts val="1000"/>
              </a:spcAft>
              <a:buSzPct val="100000"/>
              <a:buChar char="•"/>
            </a:pPr>
            <a:r>
              <a:rPr lang="en-US" sz="1600" dirty="0">
                <a:solidFill>
                  <a:schemeClr val="tx1"/>
                </a:solidFill>
              </a:rPr>
              <a:t>Location moves their probability by −10 points (centres: +6)</a:t>
            </a:r>
            <a:endParaRPr lang="en-US" sz="1600" dirty="0"/>
          </a:p>
          <a:p>
            <a:pPr marL="342900" indent="-342900">
              <a:spcAft>
                <a:spcPts val="1000"/>
              </a:spcAft>
              <a:buSzPct val="100000"/>
              <a:buChar char="•"/>
            </a:pPr>
            <a:r>
              <a:rPr lang="en-US" sz="1600" dirty="0">
                <a:solidFill>
                  <a:schemeClr val="tx1"/>
                </a:solidFill>
              </a:rPr>
              <a:t>Distance and postal code identify the region almost perfectly (AUC ≈ 1.0)</a:t>
            </a:r>
            <a:endParaRPr lang="en-US" sz="1600" dirty="0"/>
          </a:p>
          <a:p>
            <a:pPr marL="342900" indent="-342900">
              <a:spcAft>
                <a:spcPts val="1000"/>
              </a:spcAft>
              <a:buSzPct val="100000"/>
              <a:buChar char="•"/>
            </a:pPr>
            <a:r>
              <a:rPr lang="en-US" sz="1600" dirty="0">
                <a:solidFill>
                  <a:schemeClr val="tx1"/>
                </a:solidFill>
              </a:rPr>
              <a:t>Delete the region column and the penalty moves onto distance</a:t>
            </a:r>
            <a:endParaRPr lang="en-US" sz="1600" dirty="0"/>
          </a:p>
        </p:txBody>
      </p:sp>
      <p:sp>
        <p:nvSpPr>
          <p:cNvPr id="7" name="Text 4"/>
          <p:cNvSpPr txBox="1"/>
          <p:nvPr/>
        </p:nvSpPr>
        <p:spPr>
          <a:xfrm>
            <a:off x="7315200" y="5120640"/>
            <a:ext cx="4297680" cy="822960"/>
          </a:xfrm>
          <a:prstGeom prst="rect">
            <a:avLst/>
          </a:prstGeom>
          <a:noFill/>
          <a:ln/>
        </p:spPr>
        <p:txBody>
          <a:bodyPr wrap="square" lIns="0" tIns="0" rIns="0" bIns="0" rtlCol="0" anchor="ctr"/>
          <a:lstStyle/>
          <a:p>
            <a:pPr indent="0" marL="0">
              <a:buNone/>
            </a:pPr>
            <a:r>
              <a:rPr lang="en-US" sz="1800" b="1" i="1" dirty="0">
                <a:solidFill>
                  <a:schemeClr val="accent1"/>
                </a:solidFill>
              </a:rPr>
              <a:t>The bias is in the labels, not the columns.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BIAS CHANNEL 2</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committee also rewarded family income</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audit_rapport.ipynb, sections 6 and 6b · HxBuddy indicative accuracy</a:t>
            </a:r>
            <a:endParaRPr lang="en-US" sz="1000" dirty="0"/>
          </a:p>
        </p:txBody>
      </p:sp>
      <p:sp>
        <p:nvSpPr>
          <p:cNvPr id="5" name="income-card"/>
          <p:cNvSpPr/>
          <p:nvPr/>
        </p:nvSpPr>
        <p:spPr>
          <a:xfrm>
            <a:off x="548640" y="1645920"/>
            <a:ext cx="4937760" cy="1828800"/>
          </a:xfrm>
          <a:prstGeom prst="roundRect">
            <a:avLst>
              <a:gd name="adj" fmla="val 6000"/>
            </a:avLst>
          </a:prstGeom>
          <a:solidFill>
            <a:schemeClr val="bg2"/>
          </a:solidFill>
          <a:ln/>
        </p:spPr>
      </p:sp>
      <p:sp>
        <p:nvSpPr>
          <p:cNvPr id="6" name="Text 4"/>
          <p:cNvSpPr txBox="1"/>
          <p:nvPr/>
        </p:nvSpPr>
        <p:spPr>
          <a:xfrm>
            <a:off x="822960" y="1783080"/>
            <a:ext cx="438912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4 in 10</a:t>
            </a:r>
            <a:endParaRPr lang="en-US" sz="4400" dirty="0"/>
          </a:p>
        </p:txBody>
      </p:sp>
      <p:sp>
        <p:nvSpPr>
          <p:cNvPr id="7" name="Text 5"/>
          <p:cNvSpPr txBox="1"/>
          <p:nvPr/>
        </p:nvSpPr>
        <p:spPr>
          <a:xfrm>
            <a:off x="822960" y="2606040"/>
            <a:ext cx="4389120" cy="731520"/>
          </a:xfrm>
          <a:prstGeom prst="rect">
            <a:avLst/>
          </a:prstGeom>
          <a:noFill/>
          <a:ln/>
        </p:spPr>
        <p:txBody>
          <a:bodyPr wrap="square" lIns="0" tIns="0" rIns="0" bIns="0" rtlCol="0" anchor="t"/>
          <a:lstStyle/>
          <a:p>
            <a:pPr indent="0" marL="0">
              <a:buNone/>
            </a:pPr>
            <a:r>
              <a:rPr lang="en-US" sz="1400" dirty="0">
                <a:solidFill>
                  <a:schemeClr val="accent6"/>
                </a:solidFill>
              </a:rPr>
              <a:t>deserving low-income remote students were refused by the production model</a:t>
            </a:r>
            <a:endParaRPr lang="en-US" sz="1400" dirty="0"/>
          </a:p>
        </p:txBody>
      </p:sp>
      <p:sp>
        <p:nvSpPr>
          <p:cNvPr id="8" name="Text 6"/>
          <p:cNvSpPr txBox="1"/>
          <p:nvPr/>
        </p:nvSpPr>
        <p:spPr>
          <a:xfrm>
            <a:off x="548640" y="3749040"/>
            <a:ext cx="4937760" cy="2377440"/>
          </a:xfrm>
          <a:prstGeom prst="rect">
            <a:avLst/>
          </a:prstGeom>
          <a:noFill/>
          <a:ln/>
        </p:spPr>
        <p:txBody>
          <a:bodyPr wrap="square" rtlCol="0" anchor="t"/>
          <a:lstStyle/>
          <a:p>
            <a:pPr marL="342900" indent="-342900">
              <a:spcAft>
                <a:spcPts val="1000"/>
              </a:spcAft>
              <a:buSzPct val="100000"/>
              <a:buChar char="•"/>
            </a:pPr>
            <a:r>
              <a:rPr lang="en-US" sz="1600" dirty="0">
                <a:solidFill>
                  <a:schemeClr val="tx1"/>
                </a:solidFill>
              </a:rPr>
              <a:t>Remote families earn 25% less (median 51.6 k$ vs 69.2 k$), so an income bonus works against them too</a:t>
            </a:r>
            <a:endParaRPr lang="en-US" sz="1600" dirty="0"/>
          </a:p>
          <a:p>
            <a:pPr marL="342900" indent="-342900">
              <a:spcAft>
                <a:spcPts val="1000"/>
              </a:spcAft>
              <a:buSzPct val="100000"/>
              <a:buChar char="•"/>
            </a:pPr>
            <a:r>
              <a:rPr lang="en-US" sz="1600" dirty="0">
                <a:solidFill>
                  <a:schemeClr val="tx1"/>
                </a:solidFill>
              </a:rPr>
              <a:t>24 HxBuddy experiments, each changing one ingredient: income always hurts, hours worked always help</a:t>
            </a:r>
            <a:endParaRPr lang="en-US" sz="1600" dirty="0"/>
          </a:p>
        </p:txBody>
      </p:sp>
      <p:graphicFrame>
        <p:nvGraphicFramePr>
          <p:cNvPr id="6" name="experiments-table"/>
          <p:cNvGraphicFramePr>
            <a:graphicFrameLocks noGrp="1"/>
          </p:cNvGraphicFramePr>
          <p:nvPr>
            <p:extLst>
              <p:ext uri="{D42A27DB-BD31-4B8C-83A1-F6EECF244321}">
                <p14:modId xmlns:p14="http://schemas.microsoft.com/office/powerpoint/2010/main" val="1579011935"/>
              </p:ext>
            </p:extLst>
          </p:nvPr>
        </p:nvGraphicFramePr>
        <p:xfrm>
          <a:off x="5943600" y="1645920"/>
          <a:ext cx="5669280" cy="914400"/>
        </p:xfrm>
        <a:graphic>
          <a:graphicData uri="http://schemas.openxmlformats.org/drawingml/2006/table">
            <a:tbl>
              <a:tblPr/>
              <a:tblGrid>
                <a:gridCol w="3840480"/>
                <a:gridCol w="1828800"/>
              </a:tblGrid>
              <a:tr h="502920">
                <a:tc>
                  <a:txBody>
                    <a:bodyPr/>
                    <a:lstStyle/>
                    <a:p>
                      <a:pPr indent="0" marL="0">
                        <a:buNone/>
                      </a:pPr>
                      <a:r>
                        <a:rPr lang="en-US" sz="1300" b="1" dirty="0">
                          <a:solidFill>
                            <a:srgbClr val="FFFFFF"/>
                          </a:solidFill>
                        </a:rPr>
                        <a:t>Merit score tested</a:t>
                      </a:r>
                      <a:endParaRPr lang="en-US" sz="13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1D2433"/>
                    </a:solidFill>
                  </a:tcPr>
                </a:tc>
                <a:tc>
                  <a:txBody>
                    <a:bodyPr/>
                    <a:lstStyle/>
                    <a:p>
                      <a:pPr algn="r" indent="0" marL="0">
                        <a:buNone/>
                      </a:pPr>
                      <a:r>
                        <a:rPr lang="en-US" sz="1300" b="1" dirty="0">
                          <a:solidFill>
                            <a:srgbClr val="FFFFFF"/>
                          </a:solidFill>
                        </a:rPr>
                        <a:t>HxBuddy accuracy</a:t>
                      </a:r>
                      <a:endParaRPr lang="en-US" sz="13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1D2433"/>
                    </a:solidFill>
                  </a:tcPr>
                </a:tc>
              </a:tr>
              <a:tr h="502920">
                <a:tc>
                  <a:txBody>
                    <a:bodyPr/>
                    <a:lstStyle/>
                    <a:p>
                      <a:pPr algn="l" indent="0" marL="0">
                        <a:buNone/>
                      </a:pPr>
                      <a:r>
                        <a:rPr lang="en-US" sz="1400" dirty="0">
                          <a:solidFill>
                            <a:srgbClr val="1D2433"/>
                          </a:solidFill>
                        </a:rPr>
                        <a:t>R + income</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D2433"/>
                          </a:solidFill>
                        </a:rPr>
                        <a:t>90.08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D2433"/>
                          </a:solidFill>
                        </a:rPr>
                        <a:t>R only</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D2433"/>
                          </a:solidFill>
                        </a:rPr>
                        <a:t>92.28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D2433"/>
                          </a:solidFill>
                        </a:rPr>
                        <a:t>R + income + hours + distance</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D2433"/>
                          </a:solidFill>
                        </a:rPr>
                        <a:t>92.38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D2433"/>
                          </a:solidFill>
                        </a:rPr>
                        <a:t>R + hours + distance</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D2433"/>
                          </a:solidFill>
                        </a:rPr>
                        <a:t>94.38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D2433"/>
                          </a:solidFill>
                        </a:rPr>
                        <a:t>7 nearby weights and rates</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D2433"/>
                          </a:solidFill>
                        </a:rPr>
                        <a:t>94.48 – 94.63</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E07A24"/>
                          </a:solidFill>
                        </a:rPr>
                        <a:t>R + 0.146 × hours, top 41%</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E07A24"/>
                          </a:solidFill>
                        </a:rPr>
                        <a:t>94.68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METRIC CHOICE</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Equal opportunity, measured against merit</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audit_rapport.ipynb, sections 5 and 7</a:t>
            </a:r>
            <a:endParaRPr lang="en-US" sz="1000" dirty="0"/>
          </a:p>
        </p:txBody>
      </p:sp>
      <p:sp>
        <p:nvSpPr>
          <p:cNvPr id="5" name="metric-0"/>
          <p:cNvSpPr/>
          <p:nvPr/>
        </p:nvSpPr>
        <p:spPr>
          <a:xfrm>
            <a:off x="548640" y="1691640"/>
            <a:ext cx="3474720" cy="2743200"/>
          </a:xfrm>
          <a:prstGeom prst="roundRect">
            <a:avLst>
              <a:gd name="adj" fmla="val 4000"/>
            </a:avLst>
          </a:prstGeom>
          <a:solidFill>
            <a:schemeClr val="bg2"/>
          </a:solidFill>
          <a:ln/>
        </p:spPr>
      </p:sp>
      <p:sp>
        <p:nvSpPr>
          <p:cNvPr id="6" name="metric-dot-0"/>
          <p:cNvSpPr/>
          <p:nvPr/>
        </p:nvSpPr>
        <p:spPr>
          <a:xfrm>
            <a:off x="822960" y="1920240"/>
            <a:ext cx="320040" cy="320040"/>
          </a:xfrm>
          <a:prstGeom prst="ellipse">
            <a:avLst/>
          </a:prstGeom>
          <a:solidFill>
            <a:schemeClr val="accent3"/>
          </a:solidFill>
          <a:ln/>
        </p:spPr>
      </p:sp>
      <p:sp>
        <p:nvSpPr>
          <p:cNvPr id="7" name="Text 5"/>
          <p:cNvSpPr txBox="1"/>
          <p:nvPr/>
        </p:nvSpPr>
        <p:spPr>
          <a:xfrm>
            <a:off x="1280160" y="182880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Equal opportunity (our choice)</a:t>
            </a:r>
            <a:endParaRPr lang="en-US" sz="1700" dirty="0"/>
          </a:p>
        </p:txBody>
      </p:sp>
      <p:sp>
        <p:nvSpPr>
          <p:cNvPr id="8" name="Text 6"/>
          <p:cNvSpPr txBox="1"/>
          <p:nvPr/>
        </p:nvSpPr>
        <p:spPr>
          <a:xfrm>
            <a:off x="822960" y="2514600"/>
            <a:ext cx="2971800" cy="1783080"/>
          </a:xfrm>
          <a:prstGeom prst="rect">
            <a:avLst/>
          </a:prstGeom>
          <a:noFill/>
          <a:ln/>
        </p:spPr>
        <p:txBody>
          <a:bodyPr wrap="square" lIns="0" tIns="0" rIns="0" bIns="0" rtlCol="0" anchor="t"/>
          <a:lstStyle/>
          <a:p>
            <a:pPr indent="0" marL="0">
              <a:buNone/>
            </a:pPr>
            <a:r>
              <a:rPr lang="en-US" sz="1400" dirty="0">
                <a:solidFill>
                  <a:schemeClr val="tx1"/>
                </a:solidFill>
              </a:rPr>
              <a:t>A deserving student in Gaspé gets the same chance as one in Montréal. It is the promise a merit scholarship makes, and what the jury scores.</a:t>
            </a:r>
            <a:endParaRPr lang="en-US" sz="1400" dirty="0"/>
          </a:p>
        </p:txBody>
      </p:sp>
      <p:sp>
        <p:nvSpPr>
          <p:cNvPr id="9" name="metric-1"/>
          <p:cNvSpPr/>
          <p:nvPr/>
        </p:nvSpPr>
        <p:spPr>
          <a:xfrm>
            <a:off x="4297680" y="1691640"/>
            <a:ext cx="3474720" cy="2743200"/>
          </a:xfrm>
          <a:prstGeom prst="roundRect">
            <a:avLst>
              <a:gd name="adj" fmla="val 4000"/>
            </a:avLst>
          </a:prstGeom>
          <a:solidFill>
            <a:schemeClr val="bg2"/>
          </a:solidFill>
          <a:ln/>
        </p:spPr>
      </p:sp>
      <p:sp>
        <p:nvSpPr>
          <p:cNvPr id="10" name="metric-dot-1"/>
          <p:cNvSpPr/>
          <p:nvPr/>
        </p:nvSpPr>
        <p:spPr>
          <a:xfrm>
            <a:off x="4572000" y="1920240"/>
            <a:ext cx="320040" cy="320040"/>
          </a:xfrm>
          <a:prstGeom prst="ellipse">
            <a:avLst/>
          </a:prstGeom>
          <a:solidFill>
            <a:schemeClr val="accent6"/>
          </a:solidFill>
          <a:ln/>
        </p:spPr>
      </p:sp>
      <p:sp>
        <p:nvSpPr>
          <p:cNvPr id="11" name="Text 9"/>
          <p:cNvSpPr txBox="1"/>
          <p:nvPr/>
        </p:nvSpPr>
        <p:spPr>
          <a:xfrm>
            <a:off x="5029200" y="182880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Demographic parity (reported)</a:t>
            </a:r>
            <a:endParaRPr lang="en-US" sz="1700" dirty="0"/>
          </a:p>
        </p:txBody>
      </p:sp>
      <p:sp>
        <p:nvSpPr>
          <p:cNvPr id="12" name="Text 10"/>
          <p:cNvSpPr txBox="1"/>
          <p:nvPr/>
        </p:nvSpPr>
        <p:spPr>
          <a:xfrm>
            <a:off x="4572000" y="2514600"/>
            <a:ext cx="2971800" cy="1783080"/>
          </a:xfrm>
          <a:prstGeom prst="rect">
            <a:avLst/>
          </a:prstGeom>
          <a:noFill/>
          <a:ln/>
        </p:spPr>
        <p:txBody>
          <a:bodyPr wrap="square" lIns="0" tIns="0" rIns="0" bIns="0" rtlCol="0" anchor="t"/>
          <a:lstStyle/>
          <a:p>
            <a:pPr indent="0" marL="0">
              <a:buNone/>
            </a:pPr>
            <a:r>
              <a:rPr lang="en-US" sz="1400" dirty="0">
                <a:solidFill>
                  <a:schemeClr val="tx1"/>
                </a:solidFill>
              </a:rPr>
              <a:t>Forces equal grant rates whether or not merit differs, and says nothing about who gets the award. Shown as a secondary check.</a:t>
            </a:r>
            <a:endParaRPr lang="en-US" sz="1400" dirty="0"/>
          </a:p>
        </p:txBody>
      </p:sp>
      <p:sp>
        <p:nvSpPr>
          <p:cNvPr id="13" name="metric-2"/>
          <p:cNvSpPr/>
          <p:nvPr/>
        </p:nvSpPr>
        <p:spPr>
          <a:xfrm>
            <a:off x="8046720" y="1691640"/>
            <a:ext cx="3474720" cy="2743200"/>
          </a:xfrm>
          <a:prstGeom prst="roundRect">
            <a:avLst>
              <a:gd name="adj" fmla="val 4000"/>
            </a:avLst>
          </a:prstGeom>
          <a:solidFill>
            <a:schemeClr val="bg2"/>
          </a:solidFill>
          <a:ln/>
        </p:spPr>
      </p:sp>
      <p:sp>
        <p:nvSpPr>
          <p:cNvPr id="14" name="metric-dot-2"/>
          <p:cNvSpPr/>
          <p:nvPr/>
        </p:nvSpPr>
        <p:spPr>
          <a:xfrm>
            <a:off x="8321040" y="1920240"/>
            <a:ext cx="320040" cy="320040"/>
          </a:xfrm>
          <a:prstGeom prst="ellipse">
            <a:avLst/>
          </a:prstGeom>
          <a:solidFill>
            <a:schemeClr val="accent4"/>
          </a:solidFill>
          <a:ln/>
        </p:spPr>
      </p:sp>
      <p:sp>
        <p:nvSpPr>
          <p:cNvPr id="15" name="Text 13"/>
          <p:cNvSpPr txBox="1"/>
          <p:nvPr/>
        </p:nvSpPr>
        <p:spPr>
          <a:xfrm>
            <a:off x="8778240" y="1828800"/>
            <a:ext cx="2560320" cy="548640"/>
          </a:xfrm>
          <a:prstGeom prst="rect">
            <a:avLst/>
          </a:prstGeom>
          <a:noFill/>
          <a:ln/>
        </p:spPr>
        <p:txBody>
          <a:bodyPr wrap="square" lIns="0" tIns="0" rIns="0" bIns="0" rtlCol="0" anchor="ctr"/>
          <a:lstStyle/>
          <a:p>
            <a:pPr indent="0" marL="0">
              <a:buNone/>
            </a:pPr>
            <a:r>
              <a:rPr lang="en-US" sz="1700" b="1" dirty="0">
                <a:solidFill>
                  <a:schemeClr val="tx1"/>
                </a:solidFill>
              </a:rPr>
              <a:t>The trap we avoided</a:t>
            </a:r>
            <a:endParaRPr lang="en-US" sz="1700" dirty="0"/>
          </a:p>
        </p:txBody>
      </p:sp>
      <p:sp>
        <p:nvSpPr>
          <p:cNvPr id="16" name="Text 14"/>
          <p:cNvSpPr txBox="1"/>
          <p:nvPr/>
        </p:nvSpPr>
        <p:spPr>
          <a:xfrm>
            <a:off x="8321040" y="2514600"/>
            <a:ext cx="2971800" cy="1783080"/>
          </a:xfrm>
          <a:prstGeom prst="rect">
            <a:avLst/>
          </a:prstGeom>
          <a:noFill/>
          <a:ln/>
        </p:spPr>
        <p:txBody>
          <a:bodyPr wrap="square" lIns="0" tIns="0" rIns="0" bIns="0" rtlCol="0" anchor="t"/>
          <a:lstStyle/>
          <a:p>
            <a:pPr indent="0" marL="0">
              <a:buNone/>
            </a:pPr>
            <a:r>
              <a:rPr lang="en-US" sz="1400" dirty="0">
                <a:solidFill>
                  <a:schemeClr val="tx1"/>
                </a:solidFill>
              </a:rPr>
              <a:t>Measured against the committee's own labels, the biased model's gap is only 0.06. It passes by copying the bias.</a:t>
            </a:r>
            <a:endParaRPr lang="en-US" sz="1400" dirty="0"/>
          </a:p>
        </p:txBody>
      </p:sp>
      <p:sp>
        <p:nvSpPr>
          <p:cNvPr id="17" name="Text 15"/>
          <p:cNvSpPr txBox="1"/>
          <p:nvPr/>
        </p:nvSpPr>
        <p:spPr>
          <a:xfrm>
            <a:off x="548640" y="4754880"/>
            <a:ext cx="11064240" cy="914400"/>
          </a:xfrm>
          <a:prstGeom prst="rect">
            <a:avLst/>
          </a:prstGeom>
          <a:noFill/>
          <a:ln/>
        </p:spPr>
        <p:txBody>
          <a:bodyPr wrap="square" lIns="0" tIns="0" rIns="0" bIns="0" rtlCol="0" anchor="t"/>
          <a:lstStyle/>
          <a:p>
            <a:pPr indent="0" marL="0">
              <a:buNone/>
            </a:pPr>
            <a:r>
              <a:rPr lang="en-US" sz="1600" dirty="0">
                <a:solidFill>
                  <a:schemeClr val="tx1"/>
                </a:solidFill>
              </a:rPr>
              <a:t>Production model's equal-opportunity gap against penalty-free merit references: </a:t>
            </a:r>
            <a:pPr indent="0" marL="0">
              <a:buNone/>
            </a:pPr>
            <a:r>
              <a:rPr lang="en-US" sz="1600" b="1" dirty="0">
                <a:solidFill>
                  <a:schemeClr val="tx1"/>
                </a:solidFill>
              </a:rPr>
              <a:t>0.22 to 0.30</a:t>
            </a:r>
            <a:pPr indent="0" marL="0">
              <a:buNone/>
            </a:pPr>
            <a:r>
              <a:rPr lang="en-US" sz="1600" dirty="0">
                <a:solidFill>
                  <a:schemeClr val="tx1"/>
                </a:solidFill>
              </a:rPr>
              <a:t>. The organisers report </a:t>
            </a:r>
            <a:pPr indent="0" marL="0">
              <a:buNone/>
            </a:pPr>
            <a:r>
              <a:rPr lang="en-US" sz="1600" b="1" dirty="0">
                <a:solidFill>
                  <a:schemeClr val="tx1"/>
                </a:solidFill>
              </a:rPr>
              <a:t>0.270</a:t>
            </a:r>
            <a:pPr indent="0" marL="0">
              <a:buNone/>
            </a:pPr>
            <a:r>
              <a:rPr lang="en-US" sz="1600" dirty="0">
                <a:solidFill>
                  <a:schemeClr val="tx1"/>
                </a:solidFill>
              </a:rPr>
              <a:t> against their hidden reference: our diagnosis brackets it.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THE FIX</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Make the model aware of the bias, then switch it off</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equialgo.py · model_corrige.ipynb, sections 3 and 8 · model_final.json</a:t>
            </a:r>
            <a:endParaRPr lang="en-US" sz="1000" dirty="0"/>
          </a:p>
        </p:txBody>
      </p:sp>
      <p:sp>
        <p:nvSpPr>
          <p:cNvPr id="5" name="step-0"/>
          <p:cNvSpPr/>
          <p:nvPr/>
        </p:nvSpPr>
        <p:spPr>
          <a:xfrm>
            <a:off x="548640" y="1737360"/>
            <a:ext cx="548640" cy="548640"/>
          </a:xfrm>
          <a:prstGeom prst="ellipse">
            <a:avLst/>
          </a:prstGeom>
          <a:solidFill>
            <a:schemeClr val="accent1"/>
          </a:solidFill>
          <a:ln/>
        </p:spPr>
      </p:sp>
      <p:sp>
        <p:nvSpPr>
          <p:cNvPr id="6" name="Text 4"/>
          <p:cNvSpPr txBox="1"/>
          <p:nvPr/>
        </p:nvSpPr>
        <p:spPr>
          <a:xfrm>
            <a:off x="54864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5"/>
          <p:cNvSpPr txBox="1"/>
          <p:nvPr/>
        </p:nvSpPr>
        <p:spPr>
          <a:xfrm>
            <a:off x="1280160" y="1737360"/>
            <a:ext cx="2834640" cy="548640"/>
          </a:xfrm>
          <a:prstGeom prst="rect">
            <a:avLst/>
          </a:prstGeom>
          <a:noFill/>
          <a:ln/>
        </p:spPr>
        <p:txBody>
          <a:bodyPr wrap="square" lIns="0" tIns="0" rIns="0" bIns="0" rtlCol="0" anchor="ctr"/>
          <a:lstStyle/>
          <a:p>
            <a:pPr indent="0" marL="0">
              <a:buNone/>
            </a:pPr>
            <a:r>
              <a:rPr lang="en-US" sz="1800" b="1" dirty="0">
                <a:solidFill>
                  <a:schemeClr val="tx1"/>
                </a:solidFill>
              </a:rPr>
              <a:t>Train with the bias in view</a:t>
            </a:r>
            <a:endParaRPr lang="en-US" sz="1800" dirty="0"/>
          </a:p>
        </p:txBody>
      </p:sp>
      <p:sp>
        <p:nvSpPr>
          <p:cNvPr id="8" name="Text 6"/>
          <p:cNvSpPr txBox="1"/>
          <p:nvPr/>
        </p:nvSpPr>
        <p:spPr>
          <a:xfrm>
            <a:off x="548640" y="2468880"/>
            <a:ext cx="3474720" cy="1371600"/>
          </a:xfrm>
          <a:prstGeom prst="rect">
            <a:avLst/>
          </a:prstGeom>
          <a:noFill/>
          <a:ln/>
        </p:spPr>
        <p:txBody>
          <a:bodyPr wrap="square" lIns="0" tIns="0" rIns="0" bIns="0" rtlCol="0" anchor="t"/>
          <a:lstStyle/>
          <a:p>
            <a:pPr indent="0" marL="0">
              <a:buNone/>
            </a:pPr>
            <a:r>
              <a:rPr lang="en-US" sz="1500" dirty="0">
                <a:solidFill>
                  <a:schemeClr val="tx1"/>
                </a:solidFill>
              </a:rPr>
              <a:t>Fit the committee with an explicit remote-region term, so the penalty lands there instead of hiding in distance.</a:t>
            </a:r>
            <a:endParaRPr lang="en-US" sz="1500" dirty="0"/>
          </a:p>
        </p:txBody>
      </p:sp>
      <p:sp>
        <p:nvSpPr>
          <p:cNvPr id="9" name="step-1"/>
          <p:cNvSpPr/>
          <p:nvPr/>
        </p:nvSpPr>
        <p:spPr>
          <a:xfrm>
            <a:off x="4297680" y="1737360"/>
            <a:ext cx="548640" cy="548640"/>
          </a:xfrm>
          <a:prstGeom prst="ellipse">
            <a:avLst/>
          </a:prstGeom>
          <a:solidFill>
            <a:schemeClr val="accent1"/>
          </a:solidFill>
          <a:ln/>
        </p:spPr>
      </p:sp>
      <p:sp>
        <p:nvSpPr>
          <p:cNvPr id="10" name="Text 8"/>
          <p:cNvSpPr txBox="1"/>
          <p:nvPr/>
        </p:nvSpPr>
        <p:spPr>
          <a:xfrm>
            <a:off x="429768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5029200" y="1737360"/>
            <a:ext cx="2834640" cy="548640"/>
          </a:xfrm>
          <a:prstGeom prst="rect">
            <a:avLst/>
          </a:prstGeom>
          <a:noFill/>
          <a:ln/>
        </p:spPr>
        <p:txBody>
          <a:bodyPr wrap="square" lIns="0" tIns="0" rIns="0" bIns="0" rtlCol="0" anchor="ctr"/>
          <a:lstStyle/>
          <a:p>
            <a:pPr indent="0" marL="0">
              <a:buNone/>
            </a:pPr>
            <a:r>
              <a:rPr lang="en-US" sz="1800" b="1" dirty="0">
                <a:solidFill>
                  <a:schemeClr val="tx1"/>
                </a:solidFill>
              </a:rPr>
              <a:t>Switch the biases off</a:t>
            </a:r>
            <a:endParaRPr lang="en-US" sz="1800" dirty="0"/>
          </a:p>
        </p:txBody>
      </p:sp>
      <p:sp>
        <p:nvSpPr>
          <p:cNvPr id="12" name="Text 10"/>
          <p:cNvSpPr txBox="1"/>
          <p:nvPr/>
        </p:nvSpPr>
        <p:spPr>
          <a:xfrm>
            <a:off x="4297680" y="2468880"/>
            <a:ext cx="3474720" cy="1371600"/>
          </a:xfrm>
          <a:prstGeom prst="rect">
            <a:avLst/>
          </a:prstGeom>
          <a:noFill/>
          <a:ln/>
        </p:spPr>
        <p:txBody>
          <a:bodyPr wrap="square" lIns="0" tIns="0" rIns="0" bIns="0" rtlCol="0" anchor="t"/>
          <a:lstStyle/>
          <a:p>
            <a:pPr indent="0" marL="0">
              <a:buNone/>
            </a:pPr>
            <a:r>
              <a:rPr lang="en-US" sz="1500" dirty="0">
                <a:solidFill>
                  <a:schemeClr val="tx1"/>
                </a:solidFill>
              </a:rPr>
              <a:t>Remove the regional penalty, the income bonus and the distance term. Keep the committee's own weights on real merit.</a:t>
            </a:r>
            <a:endParaRPr lang="en-US" sz="1500" dirty="0"/>
          </a:p>
        </p:txBody>
      </p:sp>
      <p:sp>
        <p:nvSpPr>
          <p:cNvPr id="13" name="step-2"/>
          <p:cNvSpPr/>
          <p:nvPr/>
        </p:nvSpPr>
        <p:spPr>
          <a:xfrm>
            <a:off x="8046720" y="1737360"/>
            <a:ext cx="548640" cy="548640"/>
          </a:xfrm>
          <a:prstGeom prst="ellipse">
            <a:avLst/>
          </a:prstGeom>
          <a:solidFill>
            <a:schemeClr val="accent1"/>
          </a:solidFill>
          <a:ln/>
        </p:spPr>
      </p:sp>
      <p:sp>
        <p:nvSpPr>
          <p:cNvPr id="14" name="Text 12"/>
          <p:cNvSpPr txBox="1"/>
          <p:nvPr/>
        </p:nvSpPr>
        <p:spPr>
          <a:xfrm>
            <a:off x="8046720"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8778240" y="1737360"/>
            <a:ext cx="2834640" cy="548640"/>
          </a:xfrm>
          <a:prstGeom prst="rect">
            <a:avLst/>
          </a:prstGeom>
          <a:noFill/>
          <a:ln/>
        </p:spPr>
        <p:txBody>
          <a:bodyPr wrap="square" lIns="0" tIns="0" rIns="0" bIns="0" rtlCol="0" anchor="ctr"/>
          <a:lstStyle/>
          <a:p>
            <a:pPr indent="0" marL="0">
              <a:buNone/>
            </a:pPr>
            <a:r>
              <a:rPr lang="en-US" sz="1800" b="1" dirty="0">
                <a:solidFill>
                  <a:schemeClr val="tx1"/>
                </a:solidFill>
              </a:rPr>
              <a:t>Rank and grant</a:t>
            </a:r>
            <a:endParaRPr lang="en-US" sz="1800" dirty="0"/>
          </a:p>
        </p:txBody>
      </p:sp>
      <p:sp>
        <p:nvSpPr>
          <p:cNvPr id="16" name="Text 14"/>
          <p:cNvSpPr txBox="1"/>
          <p:nvPr/>
        </p:nvSpPr>
        <p:spPr>
          <a:xfrm>
            <a:off x="8046720" y="2468880"/>
            <a:ext cx="3474720" cy="1371600"/>
          </a:xfrm>
          <a:prstGeom prst="rect">
            <a:avLst/>
          </a:prstGeom>
          <a:noFill/>
          <a:ln/>
        </p:spPr>
        <p:txBody>
          <a:bodyPr wrap="square" lIns="0" tIns="0" rIns="0" bIns="0" rtlCol="0" anchor="t"/>
          <a:lstStyle/>
          <a:p>
            <a:pPr indent="0" marL="0">
              <a:buNone/>
            </a:pPr>
            <a:r>
              <a:rPr lang="en-US" sz="1500" dirty="0">
                <a:solidFill>
                  <a:schemeClr val="tx1"/>
                </a:solidFill>
              </a:rPr>
              <a:t>Award the top 41% of the merit score (1,640 of 4,000), inside the 36–44% budget.</a:t>
            </a:r>
            <a:endParaRPr lang="en-US" sz="1500" dirty="0"/>
          </a:p>
        </p:txBody>
      </p:sp>
      <p:sp>
        <p:nvSpPr>
          <p:cNvPr id="17" name="formula"/>
          <p:cNvSpPr/>
          <p:nvPr/>
        </p:nvSpPr>
        <p:spPr>
          <a:xfrm>
            <a:off x="548640" y="4206240"/>
            <a:ext cx="11064240" cy="1463040"/>
          </a:xfrm>
          <a:prstGeom prst="roundRect">
            <a:avLst>
              <a:gd name="adj" fmla="val 7500"/>
            </a:avLst>
          </a:prstGeom>
          <a:solidFill>
            <a:schemeClr val="tx1"/>
          </a:solidFill>
          <a:ln/>
        </p:spPr>
      </p:sp>
      <p:sp>
        <p:nvSpPr>
          <p:cNvPr id="18" name="Text 16"/>
          <p:cNvSpPr txBox="1"/>
          <p:nvPr/>
        </p:nvSpPr>
        <p:spPr>
          <a:xfrm>
            <a:off x="822960" y="4297680"/>
            <a:ext cx="10515600" cy="12801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merit  =  R score  +  0.146 × weekly hours worked</a:t>
            </a:r>
            <a:endParaRPr lang="en-US" sz="2800" dirty="0"/>
          </a:p>
          <a:p>
            <a:pPr indent="0" marL="0">
              <a:buNone/>
            </a:pPr>
            <a:r>
              <a:rPr lang="en-US" sz="1500" dirty="0">
                <a:solidFill>
                  <a:srgbClr val="C9D2E3"/>
                </a:solidFill>
              </a:rPr>
              <a:t>No region, postal code, distance or income. One formula any applicant can check.</a:t>
            </a:r>
            <a:endParaRPr lang="en-US" sz="2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PARETO FRONT</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Fairness and merit improve together</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model_corrige.ipynb, sections 4–6 · held-out split, budget enforced</a:t>
            </a:r>
            <a:endParaRPr lang="en-US" sz="1000" dirty="0"/>
          </a:p>
        </p:txBody>
      </p:sp>
      <p:pic>
        <p:nvPicPr>
          <p:cNvPr id="5" name="Image 0" descr="Pareto front of fairness vs agreement with merit for each method and setting">    </p:cNvPr>
          <p:cNvPicPr>
            <a:picLocks noChangeAspect="1"/>
          </p:cNvPicPr>
          <p:nvPr/>
        </p:nvPicPr>
        <p:blipFill>
          <a:blip r:embed="rId1"/>
          <a:stretch>
            <a:fillRect/>
          </a:stretch>
        </p:blipFill>
        <p:spPr>
          <a:xfrm>
            <a:off x="548640" y="1600200"/>
            <a:ext cx="11064240" cy="4183956"/>
          </a:xfrm>
          <a:prstGeom prst="rect">
            <a:avLst/>
          </a:prstGeom>
        </p:spPr>
      </p:pic>
      <p:sp>
        <p:nvSpPr>
          <p:cNvPr id="6" name="Text 3"/>
          <p:cNvSpPr txBox="1"/>
          <p:nvPr/>
        </p:nvSpPr>
        <p:spPr>
          <a:xfrm>
            <a:off x="548640" y="5943600"/>
            <a:ext cx="11064240" cy="411480"/>
          </a:xfrm>
          <a:prstGeom prst="rect">
            <a:avLst/>
          </a:prstGeom>
          <a:noFill/>
          <a:ln/>
        </p:spPr>
        <p:txBody>
          <a:bodyPr wrap="square" lIns="0" tIns="0" rIns="0" bIns="0" rtlCol="0" anchor="ctr"/>
          <a:lstStyle/>
          <a:p>
            <a:pPr indent="0" marL="0">
              <a:buNone/>
            </a:pPr>
            <a:r>
              <a:rPr lang="en-US" sz="1200" dirty="0">
                <a:solidFill>
                  <a:schemeClr val="accent6"/>
                </a:solidFill>
              </a:rPr>
              <a:t>Dark diamonds: our final model, sweeping the share of the penalty removed (λ). ThresholdOptimizer closes a third of the gap at best, and ExponentiatedGradient with TPR parity does not move: on biased labels the constraint is already met.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RESULTS ON THE 4,000 APPLICANTS</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Gap closed, budget kept</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model_corrige.ipynb, sections 8 and 8b · audit_rapport.ipynb, section 6b · predictions.csv</a:t>
            </a:r>
            <a:endParaRPr lang="en-US" sz="1000" dirty="0"/>
          </a:p>
        </p:txBody>
      </p:sp>
      <p:graphicFrame>
        <p:nvGraphicFramePr>
          <p:cNvPr id="10" name="results-table"/>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017520"/>
                <a:gridCol w="1828800"/>
                <a:gridCol w="1920240"/>
              </a:tblGrid>
              <a:tr h="566928">
                <a:tc>
                  <a:txBody>
                    <a:bodyPr/>
                    <a:lstStyle/>
                    <a:p>
                      <a:pPr indent="0" marL="0">
                        <a:buNone/>
                      </a:pP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1D2433"/>
                    </a:solidFill>
                  </a:tcPr>
                </a:tc>
                <a:tc>
                  <a:txBody>
                    <a:bodyPr/>
                    <a:lstStyle/>
                    <a:p>
                      <a:pPr algn="r" indent="0" marL="0">
                        <a:buNone/>
                      </a:pPr>
                      <a:r>
                        <a:rPr lang="en-US" sz="1400" b="1" dirty="0">
                          <a:solidFill>
                            <a:srgbClr val="FFFFFF"/>
                          </a:solidFill>
                        </a:rPr>
                        <a:t>Production</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1D2433"/>
                    </a:solidFill>
                  </a:tcPr>
                </a:tc>
                <a:tc>
                  <a:txBody>
                    <a:bodyPr/>
                    <a:lstStyle/>
                    <a:p>
                      <a:pPr algn="r" indent="0" marL="0">
                        <a:buNone/>
                      </a:pPr>
                      <a:r>
                        <a:rPr lang="en-US" sz="1400" b="1" dirty="0">
                          <a:solidFill>
                            <a:srgbClr val="FFFFFF"/>
                          </a:solidFill>
                        </a:rPr>
                        <a:t>Ours</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1D2433"/>
                    </a:solidFill>
                  </a:tcPr>
                </a:tc>
              </a:tr>
              <a:tr h="566928">
                <a:tc>
                  <a:txBody>
                    <a:bodyPr/>
                    <a:lstStyle/>
                    <a:p>
                      <a:pPr indent="0" marL="0">
                        <a:buNone/>
                      </a:pPr>
                      <a:r>
                        <a:rPr lang="en-US" sz="1400" dirty="0">
                          <a:solidFill>
                            <a:srgbClr val="1D2433"/>
                          </a:solidFill>
                        </a:rPr>
                        <a:t>Grant rate, centres / remote</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dirty="0">
                          <a:solidFill>
                            <a:srgbClr val="1D2433"/>
                          </a:solidFill>
                        </a:rPr>
                        <a:t>46.8% / 27.8%</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b="1" dirty="0">
                          <a:solidFill>
                            <a:srgbClr val="E07A24"/>
                          </a:solidFill>
                        </a:rPr>
                        <a:t>40.9% / 41.1%</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r>
              <a:tr h="566928">
                <a:tc>
                  <a:txBody>
                    <a:bodyPr/>
                    <a:lstStyle/>
                    <a:p>
                      <a:pPr indent="0" marL="0">
                        <a:buNone/>
                      </a:pPr>
                      <a:r>
                        <a:rPr lang="en-US" sz="1400" dirty="0">
                          <a:solidFill>
                            <a:srgbClr val="1D2433"/>
                          </a:solidFill>
                        </a:rPr>
                        <a:t>Parity gap (95% CI)</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dirty="0">
                          <a:solidFill>
                            <a:srgbClr val="1D2433"/>
                          </a:solidFill>
                        </a:rPr>
                        <a:t>0.19 (0.16–0.22)</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b="1" dirty="0">
                          <a:solidFill>
                            <a:srgbClr val="E07A24"/>
                          </a:solidFill>
                        </a:rPr>
                        <a:t>−0.002 (±0.03)</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r>
              <a:tr h="566928">
                <a:tc>
                  <a:txBody>
                    <a:bodyPr/>
                    <a:lstStyle/>
                    <a:p>
                      <a:pPr indent="0" marL="0">
                        <a:buNone/>
                      </a:pPr>
                      <a:r>
                        <a:rPr lang="en-US" sz="1400" dirty="0">
                          <a:solidFill>
                            <a:srgbClr val="1D2433"/>
                          </a:solidFill>
                        </a:rPr>
                        <a:t>Equal-opportunity gap</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dirty="0">
                          <a:solidFill>
                            <a:srgbClr val="1D2433"/>
                          </a:solidFill>
                        </a:rPr>
                        <a:t>0.30</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b="1" dirty="0">
                          <a:solidFill>
                            <a:srgbClr val="E07A24"/>
                          </a:solidFill>
                        </a:rPr>
                        <a:t>0.00</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r>
              <a:tr h="566928">
                <a:tc>
                  <a:txBody>
                    <a:bodyPr/>
                    <a:lstStyle/>
                    <a:p>
                      <a:pPr indent="0" marL="0">
                        <a:buNone/>
                      </a:pPr>
                      <a:r>
                        <a:rPr lang="en-US" sz="1400" dirty="0">
                          <a:solidFill>
                            <a:srgbClr val="1D2433"/>
                          </a:solidFill>
                        </a:rPr>
                        <a:t>Moved to Montréal → funded</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dirty="0">
                          <a:solidFill>
                            <a:srgbClr val="1D2433"/>
                          </a:solidFill>
                        </a:rPr>
                        <a:t>190</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b="1" dirty="0">
                          <a:solidFill>
                            <a:srgbClr val="E07A24"/>
                          </a:solidFill>
                        </a:rPr>
                        <a:t>0</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r>
              <a:tr h="566928">
                <a:tc>
                  <a:txBody>
                    <a:bodyPr/>
                    <a:lstStyle/>
                    <a:p>
                      <a:pPr indent="0" marL="0">
                        <a:buNone/>
                      </a:pPr>
                      <a:r>
                        <a:rPr lang="en-US" sz="1400" dirty="0">
                          <a:solidFill>
                            <a:srgbClr val="1D2433"/>
                          </a:solidFill>
                        </a:rPr>
                        <a:t>HxBuddy accuracy / F1</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c>
                  <a:txBody>
                    <a:bodyPr/>
                    <a:lstStyle/>
                    <a:p>
                      <a:pPr algn="r" indent="0" marL="0">
                        <a:buNone/>
                      </a:pPr>
                      <a:r>
                        <a:rPr lang="en-US" sz="1400" b="1" dirty="0">
                          <a:solidFill>
                            <a:srgbClr val="E07A24"/>
                          </a:solidFill>
                        </a:rPr>
                        <a:t>94.68% / 94.47%</a:t>
                      </a:r>
                      <a:endParaRPr lang="en-US" sz="1400" dirty="0"/>
                    </a:p>
                  </a:txBody>
                  <a:tcPr marL="91440" marR="91440" marT="45720" marB="45720"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tcPr>
                </a:tc>
              </a:tr>
            </a:tbl>
          </a:graphicData>
        </a:graphic>
      </p:graphicFrame>
      <p:sp>
        <p:nvSpPr>
          <p:cNvPr id="6" name="lives-card"/>
          <p:cNvSpPr/>
          <p:nvPr/>
        </p:nvSpPr>
        <p:spPr>
          <a:xfrm>
            <a:off x="7680960" y="1691640"/>
            <a:ext cx="3931920" cy="4434840"/>
          </a:xfrm>
          <a:prstGeom prst="roundRect">
            <a:avLst>
              <a:gd name="adj" fmla="val 2791"/>
            </a:avLst>
          </a:prstGeom>
          <a:solidFill>
            <a:schemeClr val="bg2"/>
          </a:solidFill>
          <a:ln/>
        </p:spPr>
      </p:sp>
      <p:sp>
        <p:nvSpPr>
          <p:cNvPr id="7" name="Text 4"/>
          <p:cNvSpPr txBox="1"/>
          <p:nvPr/>
        </p:nvSpPr>
        <p:spPr>
          <a:xfrm>
            <a:off x="7955280" y="1828800"/>
            <a:ext cx="347472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Same grades, different lives</a:t>
            </a:r>
            <a:endParaRPr lang="en-US" sz="1800" dirty="0"/>
          </a:p>
        </p:txBody>
      </p:sp>
      <p:sp>
        <p:nvSpPr>
          <p:cNvPr id="8" name="Text 5"/>
          <p:cNvSpPr txBox="1"/>
          <p:nvPr/>
        </p:nvSpPr>
        <p:spPr>
          <a:xfrm>
            <a:off x="7955280" y="2423160"/>
            <a:ext cx="3474720" cy="1097280"/>
          </a:xfrm>
          <a:prstGeom prst="rect">
            <a:avLst/>
          </a:prstGeom>
          <a:noFill/>
          <a:ln/>
        </p:spPr>
        <p:txBody>
          <a:bodyPr wrap="square" lIns="0" tIns="0" rIns="0" bIns="0" rtlCol="0" anchor="t"/>
          <a:lstStyle/>
          <a:p>
            <a:pPr indent="0" marL="0">
              <a:buNone/>
            </a:pPr>
            <a:r>
              <a:rPr lang="en-US" sz="1400" dirty="0">
                <a:solidFill>
                  <a:schemeClr val="tx1"/>
                </a:solidFill>
              </a:rPr>
              <a:t>Of 390 changed decisions, those who gain and those who lose an award have the same average R score (28.6).</a:t>
            </a:r>
            <a:endParaRPr lang="en-US" sz="1400" dirty="0"/>
          </a:p>
        </p:txBody>
      </p:sp>
      <p:sp>
        <p:nvSpPr>
          <p:cNvPr id="9" name="Text 6"/>
          <p:cNvSpPr txBox="1"/>
          <p:nvPr/>
        </p:nvSpPr>
        <p:spPr>
          <a:xfrm>
            <a:off x="7955280" y="3611880"/>
            <a:ext cx="1005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7"/>
          <p:cNvSpPr txBox="1"/>
          <p:nvPr/>
        </p:nvSpPr>
        <p:spPr>
          <a:xfrm>
            <a:off x="9006840" y="3611880"/>
            <a:ext cx="2468880" cy="822960"/>
          </a:xfrm>
          <a:prstGeom prst="rect">
            <a:avLst/>
          </a:prstGeom>
          <a:noFill/>
          <a:ln/>
        </p:spPr>
        <p:txBody>
          <a:bodyPr wrap="square" lIns="0" tIns="0" rIns="0" bIns="0" rtlCol="0" anchor="ctr"/>
          <a:lstStyle/>
          <a:p>
            <a:pPr indent="0" marL="0">
              <a:buNone/>
            </a:pPr>
            <a:r>
              <a:rPr lang="en-US" sz="1400" dirty="0">
                <a:solidFill>
                  <a:schemeClr val="accent6"/>
                </a:solidFill>
              </a:rPr>
              <a:t>the weekly hours (14.6 vs 7.4)</a:t>
            </a:r>
            <a:endParaRPr lang="en-US" sz="1400" dirty="0"/>
          </a:p>
        </p:txBody>
      </p:sp>
      <p:sp>
        <p:nvSpPr>
          <p:cNvPr id="11" name="Text 8"/>
          <p:cNvSpPr txBox="1"/>
          <p:nvPr/>
        </p:nvSpPr>
        <p:spPr>
          <a:xfrm>
            <a:off x="7955280" y="4709160"/>
            <a:ext cx="1005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½</a:t>
            </a:r>
            <a:endParaRPr lang="en-US" sz="4000" dirty="0"/>
          </a:p>
        </p:txBody>
      </p:sp>
      <p:sp>
        <p:nvSpPr>
          <p:cNvPr id="12" name="Text 9"/>
          <p:cNvSpPr txBox="1"/>
          <p:nvPr/>
        </p:nvSpPr>
        <p:spPr>
          <a:xfrm>
            <a:off x="9006840" y="4709160"/>
            <a:ext cx="2468880" cy="822960"/>
          </a:xfrm>
          <a:prstGeom prst="rect">
            <a:avLst/>
          </a:prstGeom>
          <a:noFill/>
          <a:ln/>
        </p:spPr>
        <p:txBody>
          <a:bodyPr wrap="square" lIns="0" tIns="0" rIns="0" bIns="0" rtlCol="0" anchor="ctr"/>
          <a:lstStyle/>
          <a:p>
            <a:pPr indent="0" marL="0">
              <a:buNone/>
            </a:pPr>
            <a:r>
              <a:rPr lang="en-US" sz="1400" dirty="0">
                <a:solidFill>
                  <a:schemeClr val="accent6"/>
                </a:solidFill>
              </a:rPr>
              <a:t>the family income (45 k$ vs 84 k$)</a:t>
            </a:r>
            <a:endParaRPr lang="en-US" sz="1400" dirty="0"/>
          </a:p>
        </p:txBody>
      </p:sp>
      <p:sp>
        <p:nvSpPr>
          <p:cNvPr id="13" name="Text 10"/>
          <p:cNvSpPr txBox="1"/>
          <p:nvPr/>
        </p:nvSpPr>
        <p:spPr>
          <a:xfrm>
            <a:off x="7955280" y="5715000"/>
            <a:ext cx="3474720" cy="320040"/>
          </a:xfrm>
          <a:prstGeom prst="rect">
            <a:avLst/>
          </a:prstGeom>
          <a:noFill/>
          <a:ln/>
        </p:spPr>
        <p:txBody>
          <a:bodyPr wrap="square" lIns="0" tIns="0" rIns="0" bIns="0" rtlCol="0" anchor="ctr"/>
          <a:lstStyle/>
          <a:p>
            <a:pPr indent="0" marL="0">
              <a:buNone/>
            </a:pPr>
            <a:r>
              <a:rPr lang="en-US" sz="1200" i="1" dirty="0">
                <a:solidFill>
                  <a:schemeClr val="accent6"/>
                </a:solidFill>
              </a:rPr>
              <a:t>for those who gain</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200" b="1" spc="200" kern="0" dirty="0">
                <a:solidFill>
                  <a:schemeClr val="accent1"/>
                </a:solidFill>
              </a:rPr>
              <a:t>GOVERNANCE</a:t>
            </a:r>
            <a:endParaRPr lang="en-US" sz="1200" dirty="0"/>
          </a:p>
        </p:txBody>
      </p:sp>
      <p:sp>
        <p:nvSpPr>
          <p:cNvPr id="3" name="Text 0"/>
          <p:cNvSpPr/>
          <p:nvPr>
            <p:ph idx="101" type="title" hasCustomPrompt="1"/>
          </p:nvPr>
        </p:nvSpPr>
        <p:spPr>
          <a:xfrm>
            <a:off x="548640" y="640080"/>
            <a:ext cx="11064240" cy="77724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Monitoring is code, tested on failures</a:t>
            </a:r>
            <a:endParaRPr lang="en-US" sz="3200" dirty="0"/>
          </a:p>
        </p:txBody>
      </p:sp>
      <p:sp>
        <p:nvSpPr>
          <p:cNvPr id="4" name="Text 0"/>
          <p:cNvSpPr/>
          <p:nvPr>
            <p:ph idx="102" type="body" hasCustomPrompt="1"/>
          </p:nvPr>
        </p:nvSpPr>
        <p:spPr>
          <a:xfrm>
            <a:off x="548640" y="6400800"/>
            <a:ext cx="9601200" cy="274320"/>
          </a:xfrm>
          <a:prstGeom prst="rect">
            <a:avLst/>
          </a:prstGeom>
          <a:noFill/>
          <a:ln/>
        </p:spPr>
        <p:txBody>
          <a:bodyPr wrap="square" lIns="0" tIns="0" rIns="0" bIns="0" rtlCol="0"/>
          <a:lstStyle/>
          <a:p>
            <a:pPr indent="0" marL="0">
              <a:buNone/>
            </a:pPr>
            <a:r>
              <a:rPr lang="en-US" sz="1000" dirty="0">
                <a:solidFill>
                  <a:schemeClr val="accent6"/>
                </a:solidFill>
              </a:rPr>
              <a:t>GOVERNANCE.md · monitoring.py · monitoring_demo.ipynb</a:t>
            </a:r>
            <a:endParaRPr lang="en-US" sz="1000" dirty="0"/>
          </a:p>
        </p:txBody>
      </p:sp>
      <p:pic>
        <p:nvPicPr>
          <p:cNvPr id="5" name="Image 0" descr="Monitoring dashboard: status of each indicator for five scenarios">    </p:cNvPr>
          <p:cNvPicPr>
            <a:picLocks noChangeAspect="1"/>
          </p:cNvPicPr>
          <p:nvPr/>
        </p:nvPicPr>
        <p:blipFill>
          <a:blip r:embed="rId1"/>
          <a:stretch>
            <a:fillRect/>
          </a:stretch>
        </p:blipFill>
        <p:spPr>
          <a:xfrm>
            <a:off x="548640" y="1554480"/>
            <a:ext cx="8229600" cy="3349256"/>
          </a:xfrm>
          <a:prstGeom prst="rect">
            <a:avLst/>
          </a:prstGeom>
        </p:spPr>
      </p:pic>
      <p:sp>
        <p:nvSpPr>
          <p:cNvPr id="6" name="Text 3"/>
          <p:cNvSpPr txBox="1"/>
          <p:nvPr/>
        </p:nvSpPr>
        <p:spPr>
          <a:xfrm>
            <a:off x="9052560" y="1600200"/>
            <a:ext cx="2606040" cy="448056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Old biased model redeployed: STOP, even though its budget looks normal</a:t>
            </a:r>
            <a:endParaRPr lang="en-US" sz="1400" dirty="0"/>
          </a:p>
          <a:p>
            <a:pPr marL="342900" indent="-342900">
              <a:spcAft>
                <a:spcPts val="1000"/>
              </a:spcAft>
              <a:buSzPct val="100000"/>
              <a:buChar char="•"/>
            </a:pPr>
            <a:r>
              <a:rPr lang="en-US" sz="1400" dirty="0">
                <a:solidFill>
                  <a:schemeClr val="tx1"/>
                </a:solidFill>
              </a:rPr>
              <a:t>Hours inflated: ALERT (otherwise 103 honest students lose out)</a:t>
            </a:r>
            <a:endParaRPr lang="en-US" sz="1400" dirty="0"/>
          </a:p>
          <a:p>
            <a:pPr marL="342900" indent="-342900">
              <a:spcAft>
                <a:spcPts val="1000"/>
              </a:spcAft>
              <a:buSzPct val="100000"/>
              <a:buChar char="•"/>
            </a:pPr>
            <a:r>
              <a:rPr lang="en-US" sz="1400" dirty="0">
                <a:solidFill>
                  <a:schemeClr val="tx1"/>
                </a:solidFill>
              </a:rPr>
              <a:t>Region and income only measure bias, never score</a:t>
            </a:r>
            <a:endParaRPr lang="en-US" sz="1400" dirty="0"/>
          </a:p>
          <a:p>
            <a:pPr marL="342900" indent="-342900">
              <a:spcAft>
                <a:spcPts val="1000"/>
              </a:spcAft>
              <a:buSzPct val="100000"/>
              <a:buChar char="•"/>
            </a:pPr>
            <a:r>
              <a:rPr lang="en-US" sz="1400" dirty="0">
                <a:solidFill>
                  <a:schemeClr val="tx1"/>
                </a:solidFill>
              </a:rPr>
              <a:t>Law 25 notice and human review; awards already granted are never withdrawn</a:t>
            </a:r>
            <a:endParaRPr lang="en-US" sz="1400" dirty="0"/>
          </a:p>
        </p:txBody>
      </p:sp>
      <p:sp>
        <p:nvSpPr>
          <p:cNvPr id="7" name="Text 4"/>
          <p:cNvSpPr txBox="1"/>
          <p:nvPr/>
        </p:nvSpPr>
        <p:spPr>
          <a:xfrm>
            <a:off x="548640" y="5120640"/>
            <a:ext cx="8229600" cy="822960"/>
          </a:xfrm>
          <a:prstGeom prst="rect">
            <a:avLst/>
          </a:prstGeom>
          <a:noFill/>
          <a:ln/>
        </p:spPr>
        <p:txBody>
          <a:bodyPr wrap="square" lIns="0" tIns="0" rIns="0" bIns="0" rtlCol="0" anchor="t"/>
          <a:lstStyle/>
          <a:p>
            <a:pPr indent="0" marL="0">
              <a:buNone/>
            </a:pPr>
            <a:r>
              <a:rPr lang="en-US" sz="1400" dirty="0">
                <a:solidFill>
                  <a:schemeClr val="accent6"/>
                </a:solidFill>
              </a:rPr>
              <a:t>Checked every batch: budget, parity, each region, income subgroups and input drift. Yearly: equal opportunity against an independent merit signal (first-year results, blind panel).</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10698480" cy="457200"/>
          </a:xfrm>
          <a:prstGeom prst="rect">
            <a:avLst/>
          </a:prstGeom>
          <a:noFill/>
          <a:ln/>
        </p:spPr>
        <p:txBody>
          <a:bodyPr wrap="square" lIns="0" tIns="0" rIns="0" bIns="0" rtlCol="0"/>
          <a:lstStyle/>
          <a:p>
            <a:pPr indent="0" marL="0">
              <a:buNone/>
            </a:pPr>
            <a:r>
              <a:rPr lang="en-US" sz="1400" b="1" spc="200" kern="0" dirty="0">
                <a:solidFill>
                  <a:schemeClr val="accent1"/>
                </a:solidFill>
              </a:rPr>
              <a:t>WHAT WE CANNOT CLAIM</a:t>
            </a:r>
            <a:endParaRPr lang="en-US" sz="1400" dirty="0"/>
          </a:p>
        </p:txBody>
      </p:sp>
      <p:sp>
        <p:nvSpPr>
          <p:cNvPr id="3" name="Text 0"/>
          <p:cNvSpPr/>
          <p:nvPr>
            <p:ph idx="101" type="title" hasCustomPrompt="1"/>
          </p:nvPr>
        </p:nvSpPr>
        <p:spPr>
          <a:xfrm>
            <a:off x="731520" y="1920240"/>
            <a:ext cx="10698480" cy="237744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The fix wasn't a better classifier. It was refusing to treat past decisions as the truth.</a:t>
            </a:r>
            <a:endParaRPr lang="en-US" sz="4400" dirty="0"/>
          </a:p>
        </p:txBody>
      </p:sp>
      <p:sp>
        <p:nvSpPr>
          <p:cNvPr id="4" name="Text 0"/>
          <p:cNvSpPr/>
          <p:nvPr>
            <p:ph idx="102" type="body" hasCustomPrompt="1"/>
          </p:nvPr>
        </p:nvSpPr>
        <p:spPr>
          <a:xfrm>
            <a:off x="731520" y="4480560"/>
            <a:ext cx="10698480" cy="1463040"/>
          </a:xfrm>
          <a:prstGeom prst="rect">
            <a:avLst/>
          </a:prstGeom>
          <a:noFill/>
          <a:ln/>
        </p:spPr>
        <p:txBody>
          <a:bodyPr wrap="square" lIns="0" tIns="0" rIns="0" bIns="0" rtlCol="0" anchor="t"/>
          <a:lstStyle/>
          <a:p>
            <a:pPr marL="342900" indent="-342900">
              <a:buSzPct val="100000"/>
              <a:buChar char="•"/>
            </a:pPr>
            <a:r>
              <a:rPr lang="en-US" sz="1800" dirty="0">
                <a:solidFill>
                  <a:srgbClr val="C9D2E3"/>
                </a:solidFill>
              </a:rPr>
              <a:t>We never saw the jury's reference; all 24 leaderboard experiments are disclosed</a:t>
            </a:r>
            <a:endParaRPr lang="en-US" sz="1800" dirty="0"/>
          </a:p>
          <a:p>
            <a:pPr marL="342900" indent="-342900">
              <a:buSzPct val="100000"/>
              <a:buChar char="•"/>
            </a:pPr>
            <a:r>
              <a:rPr lang="en-US" sz="1800" dirty="0">
                <a:solidFill>
                  <a:srgbClr val="C9D2E3"/>
                </a:solidFill>
              </a:rPr>
              <a:t>Hours worked are self-reported and must be verified</a:t>
            </a:r>
            <a:endParaRPr lang="en-US" sz="1800" dirty="0"/>
          </a:p>
          <a:p>
            <a:pPr marL="342900" indent="-342900">
              <a:buSzPct val="100000"/>
              <a:buChar char="•"/>
            </a:pPr>
            <a:r>
              <a:rPr lang="en-US" sz="1800" dirty="0">
                <a:solidFill>
                  <a:srgbClr val="C9D2E3"/>
                </a:solidFill>
              </a:rPr>
              <a:t>Synthetic data: other regions and a legal review are needed before roll-out</a:t>
            </a:r>
            <a:endParaRPr lang="en-US" sz="1800" dirty="0"/>
          </a:p>
        </p:txBody>
      </p:sp>
    </p:spTree>
  </p:cSld>
  <p:clrMapOvr>
    <a:masterClrMapping/>
  </p:clrMapOvr>
</p:sld>
</file>

<file path=ppt/theme/theme1.xml><?xml version="1.0" encoding="utf-8"?>
<a:theme xmlns:a="http://schemas.openxmlformats.org/drawingml/2006/main" name="EquiAlgo">
  <a:themeElements>
    <a:clrScheme name="EquiAlgo">
      <a:dk1>
        <a:srgbClr val="1D2433"/>
      </a:dk1>
      <a:lt1>
        <a:srgbClr val="FFFFFF"/>
      </a:lt1>
      <a:dk2>
        <a:srgbClr val="2A3B5C"/>
      </a:dk2>
      <a:lt2>
        <a:srgbClr val="F3F5F8"/>
      </a:lt2>
      <a:accent1>
        <a:srgbClr val="E07A24"/>
      </a:accent1>
      <a:accent2>
        <a:srgbClr val="2A6F97"/>
      </a:accent2>
      <a:accent3>
        <a:srgbClr val="0CA30C"/>
      </a:accent3>
      <a:accent4>
        <a:srgbClr val="D03B3B"/>
      </a:accent4>
      <a:accent5>
        <a:srgbClr val="FAB219"/>
      </a:accent5>
      <a:accent6>
        <a:srgbClr val="5B6475"/>
      </a:accent6>
      <a:hlink>
        <a:srgbClr val="2A6F97"/>
      </a:hlink>
      <a:folHlink>
        <a:srgbClr val="5B6475"/>
      </a:folHlink>
    </a:clrScheme>
    <a:fontScheme name="EquiAlg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ÉquiAlgo: removing two hidden regional biases</dc:title>
  <dc:subject>PptxGenJS Presentation</dc:subject>
  <dc:creator>CertifiedHackerBoys</dc:creator>
  <cp:lastModifiedBy>CertifiedHackerBoys</cp:lastModifiedBy>
  <cp:revision>1</cp:revision>
  <dcterms:created xsi:type="dcterms:W3CDTF">2026-10-03T19:47:17Z</dcterms:created>
  <dcterms:modified xsi:type="dcterms:W3CDTF">2026-10-03T19:47:17Z</dcterms:modified>
</cp:coreProperties>
</file>